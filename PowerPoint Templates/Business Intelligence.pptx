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57" r:id="rId3"/>
    <p:sldId id="256" r:id="rId4"/>
    <p:sldId id="259" r:id="rId5"/>
    <p:sldId id="268" r:id="rId6"/>
    <p:sldId id="275" r:id="rId7"/>
    <p:sldId id="276" r:id="rId8"/>
    <p:sldId id="277" r:id="rId9"/>
    <p:sldId id="278" r:id="rId10"/>
    <p:sldId id="279" r:id="rId11"/>
    <p:sldId id="280" r:id="rId12"/>
    <p:sldId id="283" r:id="rId13"/>
    <p:sldId id="287" r:id="rId14"/>
    <p:sldId id="271" r:id="rId15"/>
    <p:sldId id="291" r:id="rId16"/>
    <p:sldId id="270" r:id="rId17"/>
    <p:sldId id="289" r:id="rId18"/>
    <p:sldId id="292" r:id="rId19"/>
    <p:sldId id="295" r:id="rId20"/>
    <p:sldId id="294" r:id="rId21"/>
    <p:sldId id="296" r:id="rId22"/>
    <p:sldId id="285" r:id="rId23"/>
    <p:sldId id="297" r:id="rId24"/>
    <p:sldId id="298" r:id="rId25"/>
    <p:sldId id="299" r:id="rId26"/>
    <p:sldId id="284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7FFF"/>
    <a:srgbClr val="F7E289"/>
    <a:srgbClr val="FF9E1D"/>
    <a:srgbClr val="D68B1C"/>
    <a:srgbClr val="D09622"/>
    <a:srgbClr val="CC9900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75" d="100"/>
          <a:sy n="75" d="100"/>
        </p:scale>
        <p:origin x="-1236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56370338" cy="15637033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19295" y="985720"/>
            <a:ext cx="4428445" cy="122164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</a:t>
            </a:r>
            <a:br>
              <a:rPr lang="en-US" dirty="0" smtClean="0"/>
            </a:br>
            <a:r>
              <a:rPr lang="en-US" dirty="0" smtClean="0"/>
              <a:t>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34130" y="2665475"/>
            <a:ext cx="6400800" cy="1068935"/>
          </a:xfrm>
        </p:spPr>
        <p:txBody>
          <a:bodyPr>
            <a:normAutofit/>
          </a:bodyPr>
          <a:lstStyle>
            <a:lvl1pPr marL="0" indent="0" algn="r">
              <a:buNone/>
              <a:defRPr sz="2600">
                <a:solidFill>
                  <a:srgbClr val="157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</a:t>
            </a:r>
          </a:p>
          <a:p>
            <a:r>
              <a:rPr lang="en-US" dirty="0" smtClean="0"/>
              <a:t>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9/2/2014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2538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1425" y="680310"/>
            <a:ext cx="6566315" cy="610820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28720" y="1749245"/>
            <a:ext cx="6413610" cy="4581150"/>
          </a:xfrm>
        </p:spPr>
        <p:txBody>
          <a:bodyPr/>
          <a:lstStyle>
            <a:lvl1pPr>
              <a:defRPr sz="2800">
                <a:solidFill>
                  <a:schemeClr val="tx2">
                    <a:lumMod val="75000"/>
                  </a:schemeClr>
                </a:solidFill>
              </a:defRPr>
            </a:lvl1pPr>
            <a:lvl2pPr>
              <a:defRPr>
                <a:solidFill>
                  <a:schemeClr val="tx2">
                    <a:lumMod val="75000"/>
                  </a:schemeClr>
                </a:solidFill>
              </a:defRPr>
            </a:lvl2pPr>
            <a:lvl3pPr>
              <a:defRPr>
                <a:solidFill>
                  <a:schemeClr val="tx2">
                    <a:lumMod val="75000"/>
                  </a:schemeClr>
                </a:solidFill>
              </a:defRPr>
            </a:lvl3pPr>
            <a:lvl4pPr>
              <a:defRPr>
                <a:solidFill>
                  <a:schemeClr val="tx2">
                    <a:lumMod val="75000"/>
                  </a:schemeClr>
                </a:solidFill>
              </a:defRPr>
            </a:lvl4pPr>
            <a:lvl5pPr>
              <a:defRPr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9/2/2014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66447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3310" y="527605"/>
            <a:ext cx="7016195" cy="684885"/>
          </a:xfrm>
        </p:spPr>
        <p:txBody>
          <a:bodyPr>
            <a:normAutofit/>
          </a:bodyPr>
          <a:lstStyle>
            <a:lvl1pPr algn="l">
              <a:defRPr sz="3600">
                <a:solidFill>
                  <a:srgbClr val="157FFF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3310" y="1443835"/>
            <a:ext cx="7016195" cy="4275740"/>
          </a:xfrm>
        </p:spPr>
        <p:txBody>
          <a:bodyPr/>
          <a:lstStyle>
            <a:lvl1pPr>
              <a:defRPr sz="2800">
                <a:solidFill>
                  <a:schemeClr val="tx2">
                    <a:lumMod val="75000"/>
                  </a:schemeClr>
                </a:solidFill>
              </a:defRPr>
            </a:lvl1pPr>
            <a:lvl2pPr>
              <a:defRPr>
                <a:solidFill>
                  <a:schemeClr val="tx2">
                    <a:lumMod val="75000"/>
                  </a:schemeClr>
                </a:solidFill>
              </a:defRPr>
            </a:lvl2pPr>
            <a:lvl3pPr>
              <a:defRPr>
                <a:solidFill>
                  <a:schemeClr val="tx2">
                    <a:lumMod val="75000"/>
                  </a:schemeClr>
                </a:solidFill>
              </a:defRPr>
            </a:lvl3pPr>
            <a:lvl4pPr>
              <a:defRPr>
                <a:solidFill>
                  <a:schemeClr val="tx2">
                    <a:lumMod val="75000"/>
                  </a:schemeClr>
                </a:solidFill>
              </a:defRPr>
            </a:lvl4pPr>
            <a:lvl5pPr>
              <a:defRPr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9/2/2014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6293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9/2/2014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86344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9/2/2014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55679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1425" y="680310"/>
            <a:ext cx="6244435" cy="532180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1425" y="1749245"/>
            <a:ext cx="3054100" cy="773424"/>
          </a:xfrm>
        </p:spPr>
        <p:txBody>
          <a:bodyPr anchor="b"/>
          <a:lstStyle>
            <a:lvl1pPr marL="0" indent="0">
              <a:buNone/>
              <a:defRPr sz="2400" b="1" baseline="0">
                <a:solidFill>
                  <a:srgbClr val="157FFF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81425" y="2512770"/>
            <a:ext cx="3054100" cy="3035058"/>
          </a:xfrm>
        </p:spPr>
        <p:txBody>
          <a:bodyPr/>
          <a:lstStyle>
            <a:lvl1pPr>
              <a:defRPr sz="2400">
                <a:solidFill>
                  <a:schemeClr val="tx2">
                    <a:lumMod val="75000"/>
                  </a:schemeClr>
                </a:solidFill>
              </a:defRPr>
            </a:lvl1pPr>
            <a:lvl2pPr>
              <a:defRPr sz="2000">
                <a:solidFill>
                  <a:schemeClr val="tx2">
                    <a:lumMod val="75000"/>
                  </a:schemeClr>
                </a:solidFill>
              </a:defRPr>
            </a:lvl2pPr>
            <a:lvl3pPr>
              <a:defRPr sz="1800">
                <a:solidFill>
                  <a:schemeClr val="tx2">
                    <a:lumMod val="75000"/>
                  </a:schemeClr>
                </a:solidFill>
              </a:defRPr>
            </a:lvl3pPr>
            <a:lvl4pPr>
              <a:defRPr sz="1600">
                <a:solidFill>
                  <a:schemeClr val="tx2">
                    <a:lumMod val="75000"/>
                  </a:schemeClr>
                </a:solidFill>
              </a:defRPr>
            </a:lvl4pPr>
            <a:lvl5pPr>
              <a:defRPr sz="1600">
                <a:solidFill>
                  <a:schemeClr val="tx2">
                    <a:lumMod val="75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793640" y="1749245"/>
            <a:ext cx="3054100" cy="773424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157FFF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793640" y="2512770"/>
            <a:ext cx="3054100" cy="3035058"/>
          </a:xfrm>
        </p:spPr>
        <p:txBody>
          <a:bodyPr/>
          <a:lstStyle>
            <a:lvl1pPr>
              <a:defRPr sz="2400">
                <a:solidFill>
                  <a:schemeClr val="tx2">
                    <a:lumMod val="75000"/>
                  </a:schemeClr>
                </a:solidFill>
              </a:defRPr>
            </a:lvl1pPr>
            <a:lvl2pPr>
              <a:defRPr sz="2000">
                <a:solidFill>
                  <a:schemeClr val="tx2">
                    <a:lumMod val="75000"/>
                  </a:schemeClr>
                </a:solidFill>
              </a:defRPr>
            </a:lvl2pPr>
            <a:lvl3pPr>
              <a:defRPr sz="1800">
                <a:solidFill>
                  <a:schemeClr val="tx2">
                    <a:lumMod val="75000"/>
                  </a:schemeClr>
                </a:solidFill>
              </a:defRPr>
            </a:lvl3pPr>
            <a:lvl4pPr>
              <a:defRPr sz="1600">
                <a:solidFill>
                  <a:schemeClr val="tx2">
                    <a:lumMod val="75000"/>
                  </a:schemeClr>
                </a:solidFill>
              </a:defRPr>
            </a:lvl4pPr>
            <a:lvl5pPr>
              <a:defRPr sz="1600">
                <a:solidFill>
                  <a:schemeClr val="tx2">
                    <a:lumMod val="75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9/2/2014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12291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9/2/2014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02977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9/2/2014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25186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9/2/2014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17445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9/2/2014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7760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9/2/2014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428665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9/2/2014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893609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74F12-AA26-4AC8-9962-C36BB8F32554}" type="datetimeFigureOut">
              <a:rPr lang="en-US" smtClean="0"/>
              <a:pPr/>
              <a:t>9/2/2014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94403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5E9E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75" y="2207360"/>
            <a:ext cx="7482544" cy="2290575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MANAGEMENT INFORMATION SYSTEMS 1</a:t>
            </a:r>
            <a:endParaRPr lang="en-U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en-US" dirty="0" smtClean="0"/>
              <a:t>Content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Business Intelligence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Competitive Intelligence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Qualities of Information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4103309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Business</a:t>
            </a:r>
            <a:br>
              <a:rPr lang="en-US" dirty="0" smtClean="0"/>
            </a:br>
            <a:r>
              <a:rPr lang="en-US" dirty="0" smtClean="0"/>
              <a:t>Intelligence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19294" y="5108755"/>
            <a:ext cx="4724705" cy="1068935"/>
          </a:xfrm>
        </p:spPr>
        <p:txBody>
          <a:bodyPr>
            <a:normAutofit/>
          </a:bodyPr>
          <a:lstStyle/>
          <a:p>
            <a:endParaRPr lang="en-US" dirty="0" smtClean="0"/>
          </a:p>
        </p:txBody>
      </p:sp>
    </p:spTree>
    <p:extLst>
      <p:ext uri="{BB962C8B-B14F-4D97-AF65-F5344CB8AC3E}">
        <p14:creationId xmlns="" xmlns:p14="http://schemas.microsoft.com/office/powerpoint/2010/main" val="363920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823310" y="527605"/>
            <a:ext cx="7016195" cy="5802790"/>
          </a:xfrm>
        </p:spPr>
        <p:txBody>
          <a:bodyPr/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b="1" dirty="0" smtClean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b="1" dirty="0" smtClean="0">
                <a:solidFill>
                  <a:schemeClr val="tx1"/>
                </a:solidFill>
              </a:rPr>
              <a:t>Business</a:t>
            </a:r>
            <a:r>
              <a:rPr lang="en-US" dirty="0" smtClean="0">
                <a:solidFill>
                  <a:schemeClr val="tx1"/>
                </a:solidFill>
              </a:rPr>
              <a:t> – is an </a:t>
            </a:r>
            <a:r>
              <a:rPr lang="en-US" sz="3600" u="sng" dirty="0" smtClean="0">
                <a:solidFill>
                  <a:schemeClr val="tx1"/>
                </a:solidFill>
              </a:rPr>
              <a:t>occupation</a:t>
            </a:r>
            <a:r>
              <a:rPr lang="en-US" dirty="0" smtClean="0">
                <a:solidFill>
                  <a:schemeClr val="tx1"/>
                </a:solidFill>
              </a:rPr>
              <a:t> or trade and 		the purchase and sale of products or 		services to make a profit.</a:t>
            </a:r>
          </a:p>
          <a:p>
            <a:pPr>
              <a:buNone/>
            </a:pPr>
            <a:endParaRPr lang="en-US" dirty="0" smtClean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b="1" dirty="0" smtClean="0">
                <a:solidFill>
                  <a:schemeClr val="tx1"/>
                </a:solidFill>
              </a:rPr>
              <a:t>Intelligence </a:t>
            </a:r>
            <a:r>
              <a:rPr lang="en-US" dirty="0" smtClean="0">
                <a:solidFill>
                  <a:schemeClr val="tx1"/>
                </a:solidFill>
              </a:rPr>
              <a:t>– the capacity to gain and apply 		knowledge.</a:t>
            </a:r>
            <a:endParaRPr lang="en-US" b="1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101633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823310" y="527605"/>
            <a:ext cx="7016195" cy="5650085"/>
          </a:xfrm>
        </p:spPr>
        <p:txBody>
          <a:bodyPr/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b="1" dirty="0" smtClean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b="1" dirty="0" smtClean="0">
                <a:solidFill>
                  <a:schemeClr val="tx1"/>
                </a:solidFill>
              </a:rPr>
              <a:t>Business Intelligence (BI)</a:t>
            </a:r>
          </a:p>
          <a:p>
            <a:pPr>
              <a:buNone/>
            </a:pPr>
            <a:endParaRPr lang="en-US" dirty="0" smtClean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sz="2400" dirty="0" smtClean="0">
                <a:solidFill>
                  <a:schemeClr val="tx1"/>
                </a:solidFill>
              </a:rPr>
              <a:t>–</a:t>
            </a:r>
            <a:r>
              <a:rPr lang="en-US" sz="2400" b="1" dirty="0" smtClean="0">
                <a:solidFill>
                  <a:schemeClr val="tx1"/>
                </a:solidFill>
              </a:rPr>
              <a:t>  </a:t>
            </a:r>
            <a:r>
              <a:rPr lang="en-US" sz="2400" dirty="0" smtClean="0">
                <a:solidFill>
                  <a:schemeClr val="tx1"/>
                </a:solidFill>
              </a:rPr>
              <a:t>refers to skills, processes, technologies, applications and practices used to support decision making.</a:t>
            </a:r>
          </a:p>
          <a:p>
            <a:pPr>
              <a:buNone/>
            </a:pPr>
            <a:endParaRPr lang="en-US" sz="2400" dirty="0" smtClean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sz="2400" dirty="0" smtClean="0">
                <a:solidFill>
                  <a:schemeClr val="tx1"/>
                </a:solidFill>
              </a:rPr>
              <a:t>–  is a broad category of applications and technologies for </a:t>
            </a:r>
            <a:r>
              <a:rPr lang="en-US" u="sng" dirty="0" smtClean="0">
                <a:solidFill>
                  <a:schemeClr val="tx1"/>
                </a:solidFill>
              </a:rPr>
              <a:t>gathering</a:t>
            </a:r>
            <a:r>
              <a:rPr lang="en-US" sz="2400" dirty="0" smtClean="0">
                <a:solidFill>
                  <a:schemeClr val="tx1"/>
                </a:solidFill>
              </a:rPr>
              <a:t>, </a:t>
            </a:r>
            <a:r>
              <a:rPr lang="en-US" u="sng" dirty="0" smtClean="0">
                <a:solidFill>
                  <a:schemeClr val="tx1"/>
                </a:solidFill>
              </a:rPr>
              <a:t>storing</a:t>
            </a:r>
            <a:r>
              <a:rPr lang="en-US" sz="2400" dirty="0" smtClean="0">
                <a:solidFill>
                  <a:schemeClr val="tx1"/>
                </a:solidFill>
              </a:rPr>
              <a:t>, </a:t>
            </a:r>
            <a:r>
              <a:rPr lang="en-US" u="sng" dirty="0" smtClean="0">
                <a:solidFill>
                  <a:schemeClr val="tx1"/>
                </a:solidFill>
              </a:rPr>
              <a:t>analyzing</a:t>
            </a:r>
            <a:r>
              <a:rPr lang="en-US" dirty="0" smtClean="0">
                <a:solidFill>
                  <a:schemeClr val="tx1"/>
                </a:solidFill>
              </a:rPr>
              <a:t>, </a:t>
            </a:r>
            <a:r>
              <a:rPr lang="en-US" sz="2400" dirty="0" smtClean="0">
                <a:solidFill>
                  <a:schemeClr val="tx1"/>
                </a:solidFill>
              </a:rPr>
              <a:t>and </a:t>
            </a:r>
            <a:r>
              <a:rPr lang="en-US" u="sng" dirty="0" smtClean="0">
                <a:solidFill>
                  <a:schemeClr val="tx1"/>
                </a:solidFill>
              </a:rPr>
              <a:t>providing access to data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sz="2400" dirty="0" smtClean="0">
                <a:solidFill>
                  <a:schemeClr val="tx1"/>
                </a:solidFill>
              </a:rPr>
              <a:t>to help clients make better business decisions.</a:t>
            </a:r>
          </a:p>
          <a:p>
            <a:pPr>
              <a:buNone/>
            </a:pPr>
            <a:endParaRPr lang="en-US" sz="2400" b="1" dirty="0" smtClean="0">
              <a:solidFill>
                <a:schemeClr val="tx1"/>
              </a:solidFill>
            </a:endParaRPr>
          </a:p>
          <a:p>
            <a:pPr>
              <a:buNone/>
            </a:pPr>
            <a:endParaRPr lang="en-US" sz="2400" b="1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101633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823310" y="527605"/>
            <a:ext cx="7016195" cy="5802790"/>
          </a:xfrm>
        </p:spPr>
        <p:txBody>
          <a:bodyPr/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>
                <a:solidFill>
                  <a:schemeClr val="tx1"/>
                </a:solidFill>
              </a:rPr>
              <a:t>– Collective info about: customers, competitors, business partners, competitive environment, internal operations used to make: </a:t>
            </a:r>
            <a:r>
              <a:rPr lang="en-US" b="1" dirty="0" smtClean="0">
                <a:solidFill>
                  <a:schemeClr val="tx1"/>
                </a:solidFill>
              </a:rPr>
              <a:t>EFFECTIVE, IMPORTANT, STRATEGIC</a:t>
            </a:r>
            <a:r>
              <a:rPr lang="en-US" dirty="0" smtClean="0">
                <a:solidFill>
                  <a:schemeClr val="tx1"/>
                </a:solidFill>
              </a:rPr>
              <a:t> business decisions.</a:t>
            </a:r>
            <a:endParaRPr lang="en-US" b="1" dirty="0" smtClean="0">
              <a:solidFill>
                <a:schemeClr val="tx1"/>
              </a:solidFill>
            </a:endParaRPr>
          </a:p>
          <a:p>
            <a:pPr>
              <a:buNone/>
            </a:pPr>
            <a:endParaRPr lang="en-US" b="1" dirty="0" smtClean="0">
              <a:solidFill>
                <a:schemeClr val="tx1"/>
              </a:solidFill>
            </a:endParaRPr>
          </a:p>
          <a:p>
            <a:pPr>
              <a:buNone/>
            </a:pPr>
            <a:endParaRPr lang="en-US" b="1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101633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algn="ctr"/>
            <a:r>
              <a:rPr lang="en-US" dirty="0" smtClean="0">
                <a:ea typeface="PMingLiU" pitchFamily="18" charset="-120"/>
                <a:cs typeface="Arial" pitchFamily="34" charset="0"/>
              </a:rPr>
              <a:t/>
            </a:r>
            <a:br>
              <a:rPr lang="en-US" dirty="0" smtClean="0">
                <a:ea typeface="PMingLiU" pitchFamily="18" charset="-120"/>
                <a:cs typeface="Arial" pitchFamily="34" charset="0"/>
              </a:rPr>
            </a:br>
            <a:r>
              <a:rPr lang="en-US" dirty="0" smtClean="0">
                <a:ea typeface="PMingLiU" pitchFamily="18" charset="-120"/>
                <a:cs typeface="Arial" pitchFamily="34" charset="0"/>
              </a:rPr>
              <a:t>                           </a:t>
            </a:r>
            <a:br>
              <a:rPr lang="en-US" dirty="0" smtClean="0">
                <a:ea typeface="PMingLiU" pitchFamily="18" charset="-120"/>
                <a:cs typeface="Arial" pitchFamily="34" charset="0"/>
              </a:rPr>
            </a:br>
            <a:r>
              <a:rPr lang="en-US" b="1" dirty="0" smtClean="0">
                <a:solidFill>
                  <a:schemeClr val="bg1"/>
                </a:solidFill>
                <a:ea typeface="PMingLiU" pitchFamily="18" charset="-120"/>
                <a:cs typeface="Arial" pitchFamily="34" charset="0"/>
              </a:rPr>
              <a:t>Why BI ?</a:t>
            </a:r>
            <a:r>
              <a:rPr lang="en-US" dirty="0" smtClean="0">
                <a:solidFill>
                  <a:schemeClr val="bg1"/>
                </a:solidFill>
                <a:ea typeface="PMingLiU" pitchFamily="18" charset="-120"/>
                <a:cs typeface="Arial" pitchFamily="34" charset="0"/>
              </a:rPr>
              <a:t/>
            </a:r>
            <a:br>
              <a:rPr lang="en-US" dirty="0" smtClean="0">
                <a:solidFill>
                  <a:schemeClr val="bg1"/>
                </a:solidFill>
                <a:ea typeface="PMingLiU" pitchFamily="18" charset="-120"/>
                <a:cs typeface="Arial" pitchFamily="34" charset="0"/>
              </a:rPr>
            </a:br>
            <a:r>
              <a:rPr lang="en-US" dirty="0" smtClean="0">
                <a:ea typeface="PMingLiU" pitchFamily="18" charset="-120"/>
                <a:cs typeface="Arial" pitchFamily="34" charset="0"/>
              </a:rPr>
              <a:t/>
            </a:r>
            <a:br>
              <a:rPr lang="en-US" dirty="0" smtClean="0">
                <a:ea typeface="PMingLiU" pitchFamily="18" charset="-120"/>
                <a:cs typeface="Arial" pitchFamily="34" charset="0"/>
              </a:rPr>
            </a:br>
            <a:endParaRPr lang="en-US" dirty="0"/>
          </a:p>
        </p:txBody>
      </p:sp>
      <p:sp>
        <p:nvSpPr>
          <p:cNvPr id="4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239000" y="6553200"/>
            <a:ext cx="1905000" cy="304800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fld id="{F489FD36-A5F3-46E7-AD70-0E49E36B6F4B}" type="slidenum">
              <a:rPr lang="en-US" smtClean="0"/>
              <a:pPr/>
              <a:t>7</a:t>
            </a:fld>
            <a:endParaRPr lang="en-US" smtClean="0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1852613" y="228600"/>
            <a:ext cx="6046787" cy="609600"/>
          </a:xfrm>
          <a:prstGeom prst="rect">
            <a:avLst/>
          </a:prstGeom>
          <a:noFill/>
          <a:ln algn="ctr"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PMingLiU" pitchFamily="18" charset="-120"/>
              <a:cs typeface="Arial" pitchFamily="34" charset="0"/>
            </a:endParaRPr>
          </a:p>
        </p:txBody>
      </p:sp>
      <p:sp>
        <p:nvSpPr>
          <p:cNvPr id="11" name="Freeform 8"/>
          <p:cNvSpPr>
            <a:spLocks/>
          </p:cNvSpPr>
          <p:nvPr/>
        </p:nvSpPr>
        <p:spPr bwMode="auto">
          <a:xfrm>
            <a:off x="1365195" y="1749245"/>
            <a:ext cx="6710363" cy="1438275"/>
          </a:xfrm>
          <a:custGeom>
            <a:avLst/>
            <a:gdLst>
              <a:gd name="T0" fmla="*/ 0 w 3936"/>
              <a:gd name="T1" fmla="*/ 0 h 192"/>
              <a:gd name="T2" fmla="*/ 96 w 3936"/>
              <a:gd name="T3" fmla="*/ 192 h 192"/>
              <a:gd name="T4" fmla="*/ 3840 w 3936"/>
              <a:gd name="T5" fmla="*/ 192 h 192"/>
              <a:gd name="T6" fmla="*/ 3936 w 3936"/>
              <a:gd name="T7" fmla="*/ 0 h 192"/>
              <a:gd name="T8" fmla="*/ 0 w 3936"/>
              <a:gd name="T9" fmla="*/ 0 h 1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936"/>
              <a:gd name="T16" fmla="*/ 0 h 192"/>
              <a:gd name="T17" fmla="*/ 3936 w 3936"/>
              <a:gd name="T18" fmla="*/ 192 h 1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936" h="192">
                <a:moveTo>
                  <a:pt x="0" y="0"/>
                </a:moveTo>
                <a:lnTo>
                  <a:pt x="96" y="192"/>
                </a:lnTo>
                <a:lnTo>
                  <a:pt x="3840" y="192"/>
                </a:lnTo>
                <a:lnTo>
                  <a:pt x="3936" y="0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3C506A">
                  <a:alpha val="0"/>
                </a:srgbClr>
              </a:gs>
              <a:gs pos="100000">
                <a:srgbClr val="81ACE5"/>
              </a:gs>
            </a:gsLst>
            <a:lin ang="5400000" scaled="1"/>
          </a:gra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12" name="Picture 9" descr="2-10205_roundbox_blu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65195" y="3123590"/>
            <a:ext cx="6880225" cy="281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Rectangle 10"/>
          <p:cNvSpPr>
            <a:spLocks noChangeArrowheads="1"/>
          </p:cNvSpPr>
          <p:nvPr/>
        </p:nvSpPr>
        <p:spPr bwMode="auto">
          <a:xfrm>
            <a:off x="1823310" y="3276295"/>
            <a:ext cx="5834063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63550" indent="-463550" eaLnBrk="0" hangingPunct="0">
              <a:spcBef>
                <a:spcPct val="25000"/>
              </a:spcBef>
              <a:buFontTx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What happened?</a:t>
            </a:r>
          </a:p>
          <a:p>
            <a:pPr marL="463550" indent="-463550" eaLnBrk="0" hangingPunct="0">
              <a:spcBef>
                <a:spcPct val="25000"/>
              </a:spcBef>
              <a:buFontTx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What is happening?</a:t>
            </a:r>
          </a:p>
          <a:p>
            <a:pPr marL="463550" indent="-463550" eaLnBrk="0" hangingPunct="0">
              <a:spcBef>
                <a:spcPct val="25000"/>
              </a:spcBef>
              <a:buFontTx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Why did it happen?</a:t>
            </a:r>
          </a:p>
          <a:p>
            <a:pPr marL="463550" indent="-463550" eaLnBrk="0" hangingPunct="0">
              <a:spcBef>
                <a:spcPct val="25000"/>
              </a:spcBef>
              <a:buFontTx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What will happen?</a:t>
            </a:r>
          </a:p>
          <a:p>
            <a:pPr marL="463550" indent="-463550" eaLnBrk="0" hangingPunct="0">
              <a:spcBef>
                <a:spcPct val="25000"/>
              </a:spcBef>
              <a:buFontTx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What do I want to happen?</a:t>
            </a:r>
          </a:p>
        </p:txBody>
      </p:sp>
      <p:sp>
        <p:nvSpPr>
          <p:cNvPr id="17" name="Rectangle 14"/>
          <p:cNvSpPr>
            <a:spLocks noChangeArrowheads="1"/>
          </p:cNvSpPr>
          <p:nvPr/>
        </p:nvSpPr>
        <p:spPr bwMode="auto">
          <a:xfrm>
            <a:off x="7010400" y="2971800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" name="Rectangle 15"/>
          <p:cNvSpPr>
            <a:spLocks noChangeArrowheads="1"/>
          </p:cNvSpPr>
          <p:nvPr/>
        </p:nvSpPr>
        <p:spPr bwMode="auto">
          <a:xfrm>
            <a:off x="7010400" y="5243513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Rectangle 16"/>
          <p:cNvSpPr>
            <a:spLocks noChangeArrowheads="1"/>
          </p:cNvSpPr>
          <p:nvPr/>
        </p:nvSpPr>
        <p:spPr bwMode="auto">
          <a:xfrm>
            <a:off x="7010400" y="4029075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pic>
        <p:nvPicPr>
          <p:cNvPr id="21" name="Picture 18" descr="2-10205_square_green"/>
          <p:cNvPicPr>
            <a:picLocks noChangeAspect="1" noChangeArrowheads="1"/>
          </p:cNvPicPr>
          <p:nvPr/>
        </p:nvPicPr>
        <p:blipFill>
          <a:blip r:embed="rId3" cstate="print">
            <a:lum bright="-6000"/>
          </a:blip>
          <a:srcRect/>
          <a:stretch>
            <a:fillRect/>
          </a:stretch>
        </p:blipFill>
        <p:spPr bwMode="auto">
          <a:xfrm>
            <a:off x="2105510" y="1749245"/>
            <a:ext cx="1122362" cy="1123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" name="Picture 19" descr="2-10205_square_green"/>
          <p:cNvPicPr>
            <a:picLocks noChangeAspect="1" noChangeArrowheads="1"/>
          </p:cNvPicPr>
          <p:nvPr/>
        </p:nvPicPr>
        <p:blipFill>
          <a:blip r:embed="rId3" cstate="print">
            <a:lum bright="-6000"/>
          </a:blip>
          <a:srcRect/>
          <a:stretch>
            <a:fillRect/>
          </a:stretch>
        </p:blipFill>
        <p:spPr bwMode="auto">
          <a:xfrm>
            <a:off x="3537435" y="1749245"/>
            <a:ext cx="1123950" cy="1123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" name="Picture 20" descr="2-10205_square_green"/>
          <p:cNvPicPr>
            <a:picLocks noChangeAspect="1" noChangeArrowheads="1"/>
          </p:cNvPicPr>
          <p:nvPr/>
        </p:nvPicPr>
        <p:blipFill>
          <a:blip r:embed="rId3" cstate="print">
            <a:lum bright="-6000"/>
          </a:blip>
          <a:srcRect/>
          <a:stretch>
            <a:fillRect/>
          </a:stretch>
        </p:blipFill>
        <p:spPr bwMode="auto">
          <a:xfrm>
            <a:off x="4970947" y="1749245"/>
            <a:ext cx="1122363" cy="1123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" name="Picture 21" descr="2-10205_square_green"/>
          <p:cNvPicPr>
            <a:picLocks noChangeAspect="1" noChangeArrowheads="1"/>
          </p:cNvPicPr>
          <p:nvPr/>
        </p:nvPicPr>
        <p:blipFill>
          <a:blip r:embed="rId3" cstate="print">
            <a:lum bright="-6000"/>
          </a:blip>
          <a:srcRect/>
          <a:stretch>
            <a:fillRect/>
          </a:stretch>
        </p:blipFill>
        <p:spPr bwMode="auto">
          <a:xfrm>
            <a:off x="6404460" y="1749245"/>
            <a:ext cx="1122362" cy="1123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" name="Picture 22" descr="PC sm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816045" y="1763533"/>
            <a:ext cx="1270000" cy="1263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" name="Picture 23" descr="Pocket PC sm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 rot="688150">
            <a:off x="6643633" y="1852433"/>
            <a:ext cx="623887" cy="1174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" name="Picture 24" descr="PC sm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197655" y="1749245"/>
            <a:ext cx="1270000" cy="1263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" name="Picture 25" descr="Mobile Phone sm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 rot="1508913">
            <a:off x="5069133" y="1833631"/>
            <a:ext cx="731838" cy="1098550"/>
          </a:xfrm>
          <a:prstGeom prst="rect">
            <a:avLst/>
          </a:prstGeom>
          <a:noFill/>
          <a:ln>
            <a:miter lim="800000"/>
            <a:headEnd/>
            <a:tailEnd/>
          </a:ln>
        </p:spPr>
      </p:pic>
      <p:pic>
        <p:nvPicPr>
          <p:cNvPr id="31" name="Picture 28" descr="MCj04316410000[1]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7626100" y="5108755"/>
            <a:ext cx="84455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2" name="Picture 29" descr="MCj04316400000[1]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059785" y="2665475"/>
            <a:ext cx="84455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" name="AutoShape 31"/>
          <p:cNvSpPr>
            <a:spLocks noChangeArrowheads="1"/>
          </p:cNvSpPr>
          <p:nvPr/>
        </p:nvSpPr>
        <p:spPr bwMode="auto">
          <a:xfrm>
            <a:off x="5946345" y="3276295"/>
            <a:ext cx="360363" cy="2157412"/>
          </a:xfrm>
          <a:prstGeom prst="downArrow">
            <a:avLst>
              <a:gd name="adj1" fmla="val 50000"/>
              <a:gd name="adj2" fmla="val 149669"/>
            </a:avLst>
          </a:prstGeom>
          <a:solidFill>
            <a:schemeClr val="tx2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34" name="Text Box 32"/>
          <p:cNvSpPr txBox="1">
            <a:spLocks noChangeArrowheads="1"/>
          </p:cNvSpPr>
          <p:nvPr/>
        </p:nvSpPr>
        <p:spPr bwMode="auto">
          <a:xfrm>
            <a:off x="6557165" y="3429000"/>
            <a:ext cx="8001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" pitchFamily="34" charset="0"/>
              </a:rPr>
              <a:t>Past</a:t>
            </a:r>
          </a:p>
        </p:txBody>
      </p:sp>
      <p:sp>
        <p:nvSpPr>
          <p:cNvPr id="35" name="Text Box 33"/>
          <p:cNvSpPr txBox="1">
            <a:spLocks noChangeArrowheads="1"/>
          </p:cNvSpPr>
          <p:nvPr/>
        </p:nvSpPr>
        <p:spPr bwMode="auto">
          <a:xfrm>
            <a:off x="6557165" y="4192525"/>
            <a:ext cx="12446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" pitchFamily="34" charset="0"/>
              </a:rPr>
              <a:t>Present</a:t>
            </a:r>
          </a:p>
        </p:txBody>
      </p:sp>
      <p:sp>
        <p:nvSpPr>
          <p:cNvPr id="36" name="Text Box 34"/>
          <p:cNvSpPr txBox="1">
            <a:spLocks noChangeArrowheads="1"/>
          </p:cNvSpPr>
          <p:nvPr/>
        </p:nvSpPr>
        <p:spPr bwMode="auto">
          <a:xfrm>
            <a:off x="6557165" y="4956050"/>
            <a:ext cx="1074737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" pitchFamily="34" charset="0"/>
              </a:rPr>
              <a:t>Future</a:t>
            </a:r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en-US" sz="2400" dirty="0" smtClean="0"/>
              <a:t>The Tools &amp; techniques of business intelligence: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  <p:sp>
        <p:nvSpPr>
          <p:cNvPr id="4" name="Content Placeholder 4"/>
          <p:cNvSpPr txBox="1">
            <a:spLocks/>
          </p:cNvSpPr>
          <p:nvPr/>
        </p:nvSpPr>
        <p:spPr>
          <a:xfrm>
            <a:off x="1823310" y="680310"/>
            <a:ext cx="7016195" cy="580279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The major application 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includes 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the activities of: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1600" b="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–</a:t>
            </a: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query and reporting,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–</a:t>
            </a: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online analytical processing,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–</a:t>
            </a: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decision support,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–</a:t>
            </a: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data mining,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–</a:t>
            </a: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forecasting,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–</a:t>
            </a: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statistical analysis.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1700" b="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BI tools are divided into </a:t>
            </a:r>
            <a:r>
              <a:rPr kumimoji="0" lang="en-US" sz="2800" b="0" i="0" u="sng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two major categories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–</a:t>
            </a: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(1) 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information and knowledge discovery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–</a:t>
            </a: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(2) 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decision support and intelligent analysis.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103309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en-US" sz="2400" dirty="0" smtClean="0"/>
              <a:t>Categories of Business Intelligence:</a:t>
            </a:r>
          </a:p>
        </p:txBody>
      </p:sp>
      <p:sp>
        <p:nvSpPr>
          <p:cNvPr id="4" name="Content Placeholder 4"/>
          <p:cNvSpPr txBox="1">
            <a:spLocks/>
          </p:cNvSpPr>
          <p:nvPr/>
        </p:nvSpPr>
        <p:spPr>
          <a:xfrm>
            <a:off x="1823310" y="680310"/>
            <a:ext cx="7016195" cy="58027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86835" y="1749245"/>
            <a:ext cx="5736365" cy="44284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4103309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dirty="0" smtClean="0"/>
              <a:t>How does BI work?</a:t>
            </a:r>
          </a:p>
        </p:txBody>
      </p:sp>
      <p:sp>
        <p:nvSpPr>
          <p:cNvPr id="4" name="Content Placeholder 4"/>
          <p:cNvSpPr txBox="1">
            <a:spLocks/>
          </p:cNvSpPr>
          <p:nvPr/>
        </p:nvSpPr>
        <p:spPr>
          <a:xfrm>
            <a:off x="1823310" y="680310"/>
            <a:ext cx="7016195" cy="58027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42865" y="1749425"/>
            <a:ext cx="5585445" cy="458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4103309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1425" y="527605"/>
            <a:ext cx="6566315" cy="916230"/>
          </a:xfrm>
        </p:spPr>
        <p:txBody>
          <a:bodyPr>
            <a:noAutofit/>
          </a:bodyPr>
          <a:lstStyle/>
          <a:p>
            <a:r>
              <a:rPr lang="en-US" sz="2400" dirty="0" smtClean="0"/>
              <a:t>BI applications and technologies can help companies analyze: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  <p:sp>
        <p:nvSpPr>
          <p:cNvPr id="4" name="Content Placeholder 4"/>
          <p:cNvSpPr txBox="1">
            <a:spLocks/>
          </p:cNvSpPr>
          <p:nvPr/>
        </p:nvSpPr>
        <p:spPr>
          <a:xfrm>
            <a:off x="1823310" y="680310"/>
            <a:ext cx="7016195" cy="58027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>
              <a:lnSpc>
                <a:spcPct val="80000"/>
              </a:lnSpc>
            </a:pPr>
            <a:endParaRPr lang="en-US" sz="2800" dirty="0" smtClean="0"/>
          </a:p>
          <a:p>
            <a:pPr algn="ctr">
              <a:lnSpc>
                <a:spcPct val="80000"/>
              </a:lnSpc>
            </a:pPr>
            <a:endParaRPr lang="en-US" sz="2800" dirty="0" smtClean="0"/>
          </a:p>
          <a:p>
            <a:pPr algn="ctr">
              <a:lnSpc>
                <a:spcPct val="80000"/>
              </a:lnSpc>
            </a:pPr>
            <a:endParaRPr lang="en-US" sz="2800" dirty="0" smtClean="0"/>
          </a:p>
          <a:p>
            <a:pPr algn="ctr">
              <a:lnSpc>
                <a:spcPct val="80000"/>
              </a:lnSpc>
            </a:pPr>
            <a:endParaRPr lang="en-US" sz="2800" dirty="0" smtClean="0"/>
          </a:p>
          <a:p>
            <a:pPr>
              <a:lnSpc>
                <a:spcPct val="80000"/>
              </a:lnSpc>
              <a:buFont typeface="Wingdings" pitchFamily="2" charset="2"/>
              <a:buChar char="ü"/>
            </a:pPr>
            <a:r>
              <a:rPr lang="en-US" sz="2400" dirty="0" smtClean="0"/>
              <a:t> changing trends in market share </a:t>
            </a:r>
          </a:p>
          <a:p>
            <a:pPr>
              <a:lnSpc>
                <a:spcPct val="80000"/>
              </a:lnSpc>
            </a:pPr>
            <a:endParaRPr lang="en-US" sz="2400" dirty="0" smtClean="0"/>
          </a:p>
          <a:p>
            <a:pPr>
              <a:lnSpc>
                <a:spcPct val="80000"/>
              </a:lnSpc>
              <a:buFont typeface="Wingdings" pitchFamily="2" charset="2"/>
              <a:buChar char="ü"/>
            </a:pPr>
            <a:endParaRPr lang="en-US" dirty="0" smtClean="0"/>
          </a:p>
          <a:p>
            <a:pPr>
              <a:lnSpc>
                <a:spcPct val="80000"/>
              </a:lnSpc>
              <a:buFont typeface="Wingdings" pitchFamily="2" charset="2"/>
              <a:buChar char="ü"/>
            </a:pPr>
            <a:r>
              <a:rPr lang="en-US" sz="2400" dirty="0" smtClean="0"/>
              <a:t> changes in customer behavior &amp; spending patterns </a:t>
            </a:r>
          </a:p>
          <a:p>
            <a:pPr>
              <a:lnSpc>
                <a:spcPct val="80000"/>
              </a:lnSpc>
              <a:buFont typeface="Wingdings" pitchFamily="2" charset="2"/>
              <a:buChar char="ü"/>
            </a:pPr>
            <a:endParaRPr lang="en-US" dirty="0" smtClean="0"/>
          </a:p>
          <a:p>
            <a:pPr>
              <a:lnSpc>
                <a:spcPct val="80000"/>
              </a:lnSpc>
            </a:pPr>
            <a:endParaRPr lang="en-US" dirty="0" smtClean="0"/>
          </a:p>
          <a:p>
            <a:pPr>
              <a:lnSpc>
                <a:spcPct val="80000"/>
              </a:lnSpc>
              <a:buFont typeface="Wingdings" pitchFamily="2" charset="2"/>
              <a:buChar char="ü"/>
            </a:pPr>
            <a:r>
              <a:rPr lang="en-US" sz="2400" dirty="0" smtClean="0"/>
              <a:t> customers' preferences</a:t>
            </a:r>
          </a:p>
          <a:p>
            <a:pPr>
              <a:lnSpc>
                <a:spcPct val="80000"/>
              </a:lnSpc>
            </a:pPr>
            <a:endParaRPr lang="en-US" sz="2400" dirty="0" smtClean="0"/>
          </a:p>
          <a:p>
            <a:pPr>
              <a:lnSpc>
                <a:spcPct val="80000"/>
              </a:lnSpc>
              <a:buFont typeface="Wingdings" pitchFamily="2" charset="2"/>
              <a:buChar char="ü"/>
            </a:pPr>
            <a:endParaRPr lang="en-US" dirty="0" smtClean="0"/>
          </a:p>
          <a:p>
            <a:pPr>
              <a:lnSpc>
                <a:spcPct val="80000"/>
              </a:lnSpc>
              <a:buFont typeface="Wingdings" pitchFamily="2" charset="2"/>
              <a:buChar char="ü"/>
            </a:pPr>
            <a:r>
              <a:rPr lang="en-US" sz="2400" dirty="0" smtClean="0"/>
              <a:t> company capabilities </a:t>
            </a:r>
          </a:p>
          <a:p>
            <a:pPr>
              <a:lnSpc>
                <a:spcPct val="80000"/>
              </a:lnSpc>
            </a:pPr>
            <a:endParaRPr lang="en-US" sz="2400" dirty="0" smtClean="0"/>
          </a:p>
          <a:p>
            <a:pPr>
              <a:lnSpc>
                <a:spcPct val="80000"/>
              </a:lnSpc>
              <a:buFont typeface="Wingdings" pitchFamily="2" charset="2"/>
              <a:buChar char="ü"/>
            </a:pPr>
            <a:endParaRPr lang="en-US" dirty="0" smtClean="0"/>
          </a:p>
          <a:p>
            <a:pPr>
              <a:lnSpc>
                <a:spcPct val="80000"/>
              </a:lnSpc>
              <a:buFont typeface="Wingdings" pitchFamily="2" charset="2"/>
              <a:buChar char="ü"/>
            </a:pPr>
            <a:r>
              <a:rPr lang="en-US" sz="2400" dirty="0" smtClean="0"/>
              <a:t> market conditions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103309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Competitive</a:t>
            </a:r>
            <a:br>
              <a:rPr lang="en-US" dirty="0" smtClean="0"/>
            </a:br>
            <a:r>
              <a:rPr lang="en-US" dirty="0" smtClean="0"/>
              <a:t>Intelligence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19294" y="5108755"/>
            <a:ext cx="4724705" cy="1068935"/>
          </a:xfrm>
        </p:spPr>
        <p:txBody>
          <a:bodyPr>
            <a:normAutofit/>
          </a:bodyPr>
          <a:lstStyle/>
          <a:p>
            <a:endParaRPr lang="en-US" dirty="0" smtClean="0"/>
          </a:p>
        </p:txBody>
      </p:sp>
    </p:spTree>
    <p:extLst>
      <p:ext uri="{BB962C8B-B14F-4D97-AF65-F5344CB8AC3E}">
        <p14:creationId xmlns="" xmlns:p14="http://schemas.microsoft.com/office/powerpoint/2010/main" val="363920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074" name="Picture 2" descr="D:\Pao\MGMTIS1\(BI)\competitive-intelligence-7-728.jpg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23310" y="527604"/>
            <a:ext cx="7024430" cy="595549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="" xmlns:p14="http://schemas.microsoft.com/office/powerpoint/2010/main" val="1101633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098" name="Picture 2" descr="D:\Pao\MGMTIS1\(BI)\competitive-intelligence-23-638.jpg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23309" y="527605"/>
            <a:ext cx="7177135" cy="58027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1101633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42" name="Picture 2" descr="D:\Pao\MGMTIS1\(BI)\competitive-intelligence-13-728.jpg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23310" y="527605"/>
            <a:ext cx="7024430" cy="549738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1101633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122" name="Picture 2" descr="D:\Pao\MGMTIS1\(BI)\competitive-intelligence-10-638.jpg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23309" y="527605"/>
            <a:ext cx="7118795" cy="53446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1101633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170" name="Picture 2" descr="D:\Pao\MGMTIS1\(BI)\competitive-intelligence-26-728.jpg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23310" y="527604"/>
            <a:ext cx="7024430" cy="565008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1101633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218" name="Picture 2" descr="D:\Pao\MGMTIS1\(BI)\competitive-intelligence-9-728.jpg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23310" y="527604"/>
            <a:ext cx="7024430" cy="565008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1101633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1266" name="Picture 2" descr="D:\Pao\MGMTIS1\(BI)\competitive-intelligence-18-728.jpg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23310" y="527604"/>
            <a:ext cx="7024430" cy="565008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1101633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2290" name="Picture 2" descr="D:\Pao\MGMTIS1\(BI)\competitive-intelligence-19-638.jpg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23309" y="527605"/>
            <a:ext cx="7177135" cy="565008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1101633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Qualities of Information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19294" y="5108755"/>
            <a:ext cx="4724705" cy="1068935"/>
          </a:xfrm>
        </p:spPr>
        <p:txBody>
          <a:bodyPr>
            <a:normAutofit/>
          </a:bodyPr>
          <a:lstStyle/>
          <a:p>
            <a:endParaRPr lang="en-US" dirty="0" smtClean="0"/>
          </a:p>
        </p:txBody>
      </p:sp>
    </p:spTree>
    <p:extLst>
      <p:ext uri="{BB962C8B-B14F-4D97-AF65-F5344CB8AC3E}">
        <p14:creationId xmlns="" xmlns:p14="http://schemas.microsoft.com/office/powerpoint/2010/main" val="363920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en-US" sz="3200" dirty="0" smtClean="0"/>
              <a:t>Timeliness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  <p:sp>
        <p:nvSpPr>
          <p:cNvPr id="4" name="Content Placeholder 4"/>
          <p:cNvSpPr txBox="1">
            <a:spLocks/>
          </p:cNvSpPr>
          <p:nvPr/>
        </p:nvSpPr>
        <p:spPr>
          <a:xfrm>
            <a:off x="1823310" y="680310"/>
            <a:ext cx="7016195" cy="58027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>
              <a:buNone/>
            </a:pPr>
            <a:r>
              <a:rPr lang="en-US" sz="2800" b="1" dirty="0" smtClean="0"/>
              <a:t>Timeliness</a:t>
            </a:r>
            <a:r>
              <a:rPr lang="en-US" sz="2800" dirty="0" smtClean="0"/>
              <a:t> – being at the right time.</a:t>
            </a:r>
          </a:p>
          <a:p>
            <a:endParaRPr lang="en-US" sz="2800" dirty="0" smtClean="0"/>
          </a:p>
          <a:p>
            <a:r>
              <a:rPr lang="en-US" sz="2400" dirty="0" smtClean="0"/>
              <a:t>–Do you have access to information when you need it? </a:t>
            </a:r>
          </a:p>
          <a:p>
            <a:endParaRPr lang="en-US" sz="2400" dirty="0" smtClean="0"/>
          </a:p>
          <a:p>
            <a:r>
              <a:rPr lang="en-US" sz="2400" dirty="0" smtClean="0"/>
              <a:t>–Does the information describe the time period you are considering? </a:t>
            </a:r>
          </a:p>
          <a:p>
            <a:pPr>
              <a:buNone/>
            </a:pPr>
            <a:endParaRPr lang="en-US" sz="2800" dirty="0" smtClean="0"/>
          </a:p>
        </p:txBody>
      </p:sp>
    </p:spTree>
    <p:extLst>
      <p:ext uri="{BB962C8B-B14F-4D97-AF65-F5344CB8AC3E}">
        <p14:creationId xmlns="" xmlns:p14="http://schemas.microsoft.com/office/powerpoint/2010/main" val="4103309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en-US" sz="3200" dirty="0" smtClean="0"/>
              <a:t>Location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  <p:sp>
        <p:nvSpPr>
          <p:cNvPr id="4" name="Content Placeholder 4"/>
          <p:cNvSpPr txBox="1">
            <a:spLocks/>
          </p:cNvSpPr>
          <p:nvPr/>
        </p:nvSpPr>
        <p:spPr>
          <a:xfrm>
            <a:off x="1823310" y="680310"/>
            <a:ext cx="7016195" cy="58027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>
              <a:buNone/>
            </a:pPr>
            <a:r>
              <a:rPr lang="en-US" sz="2800" b="1" dirty="0" smtClean="0"/>
              <a:t>Location</a:t>
            </a:r>
            <a:r>
              <a:rPr lang="en-US" sz="2800" dirty="0" smtClean="0"/>
              <a:t> – </a:t>
            </a:r>
            <a:r>
              <a:rPr lang="en-US" sz="2800" b="1" dirty="0" smtClean="0"/>
              <a:t> </a:t>
            </a:r>
            <a:r>
              <a:rPr lang="en-US" sz="2800" dirty="0" smtClean="0"/>
              <a:t>a place where something is or 			could be located.</a:t>
            </a:r>
          </a:p>
          <a:p>
            <a:endParaRPr lang="en-US" sz="2400" dirty="0" smtClean="0"/>
          </a:p>
          <a:p>
            <a:r>
              <a:rPr lang="en-US" sz="2400" dirty="0" smtClean="0"/>
              <a:t>–Telecommuting, workplace virtualization, mobile </a:t>
            </a:r>
          </a:p>
          <a:p>
            <a:r>
              <a:rPr lang="en-US" sz="2400" dirty="0" smtClean="0"/>
              <a:t>e-commerce … </a:t>
            </a:r>
          </a:p>
          <a:p>
            <a:endParaRPr lang="en-US" sz="2400" dirty="0" smtClean="0"/>
          </a:p>
          <a:p>
            <a:r>
              <a:rPr lang="en-US" sz="2400" dirty="0" smtClean="0"/>
              <a:t>–Having access to information sources. </a:t>
            </a:r>
          </a:p>
          <a:p>
            <a:pPr>
              <a:buNone/>
            </a:pPr>
            <a:endParaRPr lang="en-US" sz="2800" dirty="0" smtClean="0"/>
          </a:p>
        </p:txBody>
      </p:sp>
    </p:spTree>
    <p:extLst>
      <p:ext uri="{BB962C8B-B14F-4D97-AF65-F5344CB8AC3E}">
        <p14:creationId xmlns="" xmlns:p14="http://schemas.microsoft.com/office/powerpoint/2010/main" val="4103309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en-US" sz="3200" dirty="0" smtClean="0"/>
              <a:t>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  <p:sp>
        <p:nvSpPr>
          <p:cNvPr id="4" name="Content Placeholder 4"/>
          <p:cNvSpPr txBox="1">
            <a:spLocks/>
          </p:cNvSpPr>
          <p:nvPr/>
        </p:nvSpPr>
        <p:spPr>
          <a:xfrm>
            <a:off x="1823310" y="680310"/>
            <a:ext cx="7016195" cy="580279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>
              <a:buNone/>
            </a:pPr>
            <a:r>
              <a:rPr lang="en-US" sz="2800" b="1" dirty="0" smtClean="0"/>
              <a:t>Form</a:t>
            </a:r>
            <a:r>
              <a:rPr lang="en-US" sz="2800" dirty="0" smtClean="0"/>
              <a:t> – the essence or state.</a:t>
            </a:r>
          </a:p>
          <a:p>
            <a:endParaRPr lang="en-US" sz="2800" dirty="0" smtClean="0"/>
          </a:p>
          <a:p>
            <a:r>
              <a:rPr lang="en-US" sz="2400" dirty="0" smtClean="0"/>
              <a:t>–Is the information in a form usable/useful for you? (Relevance &amp; reliability) </a:t>
            </a:r>
          </a:p>
          <a:p>
            <a:endParaRPr lang="en-US" sz="2400" dirty="0" smtClean="0"/>
          </a:p>
          <a:p>
            <a:r>
              <a:rPr lang="en-US" sz="2400" dirty="0" smtClean="0"/>
              <a:t>•Audio, text, video, animation, graphical</a:t>
            </a:r>
          </a:p>
          <a:p>
            <a:endParaRPr lang="en-US" sz="2400" dirty="0" smtClean="0"/>
          </a:p>
          <a:p>
            <a:r>
              <a:rPr lang="en-US" sz="2400" dirty="0" smtClean="0"/>
              <a:t>–Is the information free from errors? (Integrity)</a:t>
            </a:r>
          </a:p>
          <a:p>
            <a:endParaRPr lang="en-US" sz="2400" dirty="0" smtClean="0"/>
          </a:p>
          <a:p>
            <a:r>
              <a:rPr lang="en-US" sz="2400" dirty="0" smtClean="0"/>
              <a:t>•Not defective </a:t>
            </a:r>
          </a:p>
          <a:p>
            <a:pPr>
              <a:buNone/>
            </a:pPr>
            <a:endParaRPr lang="en-US" sz="2800" dirty="0" smtClean="0"/>
          </a:p>
        </p:txBody>
      </p:sp>
    </p:spTree>
    <p:extLst>
      <p:ext uri="{BB962C8B-B14F-4D97-AF65-F5344CB8AC3E}">
        <p14:creationId xmlns="" xmlns:p14="http://schemas.microsoft.com/office/powerpoint/2010/main" val="4103309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en-US" sz="3200" dirty="0" smtClean="0"/>
              <a:t>Validity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  <p:sp>
        <p:nvSpPr>
          <p:cNvPr id="4" name="Content Placeholder 4"/>
          <p:cNvSpPr txBox="1">
            <a:spLocks/>
          </p:cNvSpPr>
          <p:nvPr/>
        </p:nvSpPr>
        <p:spPr>
          <a:xfrm>
            <a:off x="1823310" y="680310"/>
            <a:ext cx="7016195" cy="58027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>
              <a:buNone/>
            </a:pPr>
            <a:r>
              <a:rPr lang="en-US" sz="2800" b="1" dirty="0" smtClean="0"/>
              <a:t>Validity</a:t>
            </a:r>
            <a:r>
              <a:rPr lang="en-US" sz="2800" dirty="0" smtClean="0"/>
              <a:t> – the state or quality of being valid.</a:t>
            </a:r>
          </a:p>
          <a:p>
            <a:endParaRPr lang="en-US" sz="2800" dirty="0" smtClean="0"/>
          </a:p>
          <a:p>
            <a:r>
              <a:rPr lang="en-US" sz="2400" dirty="0" smtClean="0"/>
              <a:t>–Credibility of information </a:t>
            </a:r>
          </a:p>
          <a:p>
            <a:endParaRPr lang="en-US" sz="2400" dirty="0" smtClean="0"/>
          </a:p>
          <a:p>
            <a:r>
              <a:rPr lang="en-US" sz="2400" dirty="0" smtClean="0"/>
              <a:t>–Did it pass a process of quality control by a standardizing organization? </a:t>
            </a:r>
          </a:p>
          <a:p>
            <a:pPr>
              <a:buNone/>
            </a:pPr>
            <a:endParaRPr lang="en-US" sz="2800" dirty="0" smtClean="0"/>
          </a:p>
        </p:txBody>
      </p:sp>
    </p:spTree>
    <p:extLst>
      <p:ext uri="{BB962C8B-B14F-4D97-AF65-F5344CB8AC3E}">
        <p14:creationId xmlns="" xmlns:p14="http://schemas.microsoft.com/office/powerpoint/2010/main" val="4103309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                      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HANK YOU……….</a:t>
            </a:r>
            <a:endParaRPr lang="en-US" dirty="0"/>
          </a:p>
        </p:txBody>
      </p:sp>
      <p:pic>
        <p:nvPicPr>
          <p:cNvPr id="1026" name="Picture 2" descr="C:\Users\ker10324\Desktop\thankyou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</p:pic>
      <p:sp>
        <p:nvSpPr>
          <p:cNvPr id="4" name="TextBox 3"/>
          <p:cNvSpPr txBox="1"/>
          <p:nvPr/>
        </p:nvSpPr>
        <p:spPr>
          <a:xfrm>
            <a:off x="143555" y="6330395"/>
            <a:ext cx="3709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chemeClr val="bg1"/>
                </a:solidFill>
                <a:latin typeface="Lucida Handwriting" pitchFamily="66" charset="0"/>
              </a:rPr>
              <a:t>By:   </a:t>
            </a:r>
            <a:r>
              <a:rPr lang="en-US" dirty="0" err="1" smtClean="0">
                <a:solidFill>
                  <a:schemeClr val="bg1"/>
                </a:solidFill>
                <a:latin typeface="Lucida Handwriting" pitchFamily="66" charset="0"/>
              </a:rPr>
              <a:t>Jentzen</a:t>
            </a:r>
            <a:r>
              <a:rPr lang="en-US" dirty="0" smtClean="0">
                <a:solidFill>
                  <a:schemeClr val="bg1"/>
                </a:solidFill>
                <a:latin typeface="Lucida Handwriting" pitchFamily="66" charset="0"/>
              </a:rPr>
              <a:t> Paolo A. Javier</a:t>
            </a:r>
            <a:endParaRPr lang="en-US" dirty="0">
              <a:solidFill>
                <a:schemeClr val="bg1"/>
              </a:solidFill>
              <a:latin typeface="Lucida Handwriting" pitchFamily="66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3569</TotalTime>
  <Words>367</Words>
  <Application>Microsoft Office PowerPoint</Application>
  <PresentationFormat>On-screen Show (4:3)</PresentationFormat>
  <Paragraphs>127</Paragraphs>
  <Slides>26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MANAGEMENT INFORMATION SYSTEMS 1</vt:lpstr>
      <vt:lpstr>Content</vt:lpstr>
      <vt:lpstr>Business Intelligence</vt:lpstr>
      <vt:lpstr>Slide 4</vt:lpstr>
      <vt:lpstr>Slide 5</vt:lpstr>
      <vt:lpstr>Slide 6</vt:lpstr>
      <vt:lpstr>                             Why BI ?  </vt:lpstr>
      <vt:lpstr>The Tools &amp; techniques of business intelligence: </vt:lpstr>
      <vt:lpstr>Categories of Business Intelligence:</vt:lpstr>
      <vt:lpstr>How does BI work?</vt:lpstr>
      <vt:lpstr>BI applications and technologies can help companies analyze:</vt:lpstr>
      <vt:lpstr>Competitive Intelligence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Qualities of Information</vt:lpstr>
      <vt:lpstr>Timeliness</vt:lpstr>
      <vt:lpstr>Location</vt:lpstr>
      <vt:lpstr>Form</vt:lpstr>
      <vt:lpstr>Validity</vt:lpstr>
      <vt:lpstr>Slide 26</vt:lpstr>
    </vt:vector>
  </TitlesOfParts>
  <Company>Microsoft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</dc:creator>
  <cp:lastModifiedBy>Intel</cp:lastModifiedBy>
  <cp:revision>74</cp:revision>
  <dcterms:created xsi:type="dcterms:W3CDTF">2013-08-21T19:17:07Z</dcterms:created>
  <dcterms:modified xsi:type="dcterms:W3CDTF">2014-09-02T15:21:21Z</dcterms:modified>
</cp:coreProperties>
</file>